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6858000" cy="9144000" type="letter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38"/>
  </p:normalViewPr>
  <p:slideViewPr>
    <p:cSldViewPr snapToGrid="0" snapToObjects="1" showGuides="1">
      <p:cViewPr>
        <p:scale>
          <a:sx n="125" d="100"/>
          <a:sy n="125" d="100"/>
        </p:scale>
        <p:origin x="720" y="-30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8" d="100"/>
          <a:sy n="88" d="100"/>
        </p:scale>
        <p:origin x="381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A70018-B585-46EF-9F47-0BA204198828}" type="datetime1">
              <a:rPr lang="pt-BR" smtClean="0"/>
              <a:t>03/10/2021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4C17898-3A10-CF44-A552-3280948685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B1DAAD7-6CAC-48E0-9CAE-8730FB324AB9}" type="datetime1">
              <a:rPr lang="pt-BR" noProof="0" smtClean="0"/>
              <a:t>03/10/2021</a:t>
            </a:fld>
            <a:endParaRPr lang="pt-BR" noProof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20E8996-8344-4FE8-B696-CB62494C532E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20E8996-8344-4FE8-B696-CB62494C532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343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tângulo 58">
            <a:extLst>
              <a:ext uri="{FF2B5EF4-FFF2-40B4-BE49-F238E27FC236}">
                <a16:creationId xmlns:a16="http://schemas.microsoft.com/office/drawing/2014/main" id="{6E26CF3A-F55E-E544-9FB2-7100E5D01487}"/>
              </a:ext>
            </a:extLst>
          </p:cNvPr>
          <p:cNvSpPr/>
          <p:nvPr userDrawn="1"/>
        </p:nvSpPr>
        <p:spPr>
          <a:xfrm>
            <a:off x="0" y="0"/>
            <a:ext cx="6858000" cy="111367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 rtlCol="0">
            <a:noAutofit/>
          </a:bodyPr>
          <a:lstStyle>
            <a:lvl1pPr rtl="0"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pt-BR" altLang="zh-HK" b="0" noProof="1"/>
              <a:t>NOME AQUI</a:t>
            </a:r>
            <a:endParaRPr lang="pt-br" noProof="0"/>
          </a:p>
        </p:txBody>
      </p:sp>
      <p:sp>
        <p:nvSpPr>
          <p:cNvPr id="20" name="Espaço Reservado para Texto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rtl="0"/>
            <a:r>
              <a:rPr lang="pt-BR" altLang="zh-HK" noProof="1"/>
              <a:t>EDUCAÇÃO</a:t>
            </a:r>
          </a:p>
        </p:txBody>
      </p:sp>
      <p:sp>
        <p:nvSpPr>
          <p:cNvPr id="25" name="Espaço Reservado para Texto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rtlCol="0" anchor="ctr">
            <a:normAutofit/>
          </a:bodyPr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rtl="0"/>
            <a:r>
              <a:rPr lang="pt-BR" altLang="zh-HK" noProof="1"/>
              <a:t>Nome da escola</a:t>
            </a:r>
          </a:p>
        </p:txBody>
      </p:sp>
      <p:sp>
        <p:nvSpPr>
          <p:cNvPr id="30" name="Espaço Reservado para Texto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rtl="0"/>
            <a:r>
              <a:rPr lang="pt-BR" altLang="zh-HK" noProof="1"/>
              <a:t>[Data De]-[Até]</a:t>
            </a:r>
          </a:p>
        </p:txBody>
      </p:sp>
      <p:sp>
        <p:nvSpPr>
          <p:cNvPr id="31" name="Espaço Reservado para Texto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rtl="0"/>
            <a:r>
              <a:rPr lang="pt-BR" altLang="zh-HK" noProof="1"/>
              <a:t>[Nome do Diploma]</a:t>
            </a:r>
          </a:p>
        </p:txBody>
      </p:sp>
      <p:sp>
        <p:nvSpPr>
          <p:cNvPr id="42" name="Espaço Reservado para Texto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rtlCol="0" anchor="ctr">
            <a:normAutofit/>
          </a:bodyPr>
          <a:lstStyle>
            <a:lvl1pPr marL="0" indent="0" algn="ctr" rtl="0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rtl="0"/>
            <a:r>
              <a:rPr lang="pt-BR" altLang="zh-HK" noProof="1"/>
              <a:t>MÉDIAS</a:t>
            </a:r>
          </a:p>
        </p:txBody>
      </p:sp>
      <p:sp>
        <p:nvSpPr>
          <p:cNvPr id="43" name="Espaço Reservado para Texto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4.0</a:t>
            </a:r>
          </a:p>
        </p:txBody>
      </p:sp>
      <p:sp>
        <p:nvSpPr>
          <p:cNvPr id="96" name="Espaço Reservado para Texto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altLang="zh-HK" noProof="1"/>
              <a:t>Nome da Empresa | Cargo</a:t>
            </a:r>
          </a:p>
        </p:txBody>
      </p:sp>
      <p:sp>
        <p:nvSpPr>
          <p:cNvPr id="97" name="Espaço Reservado para Texto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altLang="zh-HK" noProof="1"/>
              <a:t>[Data De]-[Até]</a:t>
            </a:r>
          </a:p>
        </p:txBody>
      </p:sp>
      <p:sp>
        <p:nvSpPr>
          <p:cNvPr id="98" name="Espaço Reservado para Texto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Espaço Reservado para Texto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rtlCol="0" anchor="ctr">
            <a:normAutofit/>
          </a:bodyPr>
          <a:lstStyle>
            <a:lvl1pPr marL="0" indent="0" rtl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altLang="zh-HK" noProof="1"/>
              <a:t>EXPERIÊNCIA</a:t>
            </a:r>
          </a:p>
        </p:txBody>
      </p:sp>
      <p:sp>
        <p:nvSpPr>
          <p:cNvPr id="104" name="Espaço Reservado para Texto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altLang="zh-HK" noProof="1"/>
              <a:t>Nome da Empresa | Cargo</a:t>
            </a:r>
          </a:p>
        </p:txBody>
      </p:sp>
      <p:sp>
        <p:nvSpPr>
          <p:cNvPr id="105" name="Espaço Reservado para Texto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altLang="zh-HK" noProof="1"/>
              <a:t>[Data De]-[Até]</a:t>
            </a:r>
          </a:p>
        </p:txBody>
      </p:sp>
      <p:sp>
        <p:nvSpPr>
          <p:cNvPr id="106" name="Espaço Reservado para Texto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Espaço Reservado para Texto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altLang="zh-HK" noProof="1"/>
              <a:t>Nome da Empresa | Cargo</a:t>
            </a:r>
          </a:p>
        </p:txBody>
      </p:sp>
      <p:sp>
        <p:nvSpPr>
          <p:cNvPr id="108" name="Espaço Reservado para Texto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altLang="zh-HK" noProof="1"/>
              <a:t>[Data De]-[Até]</a:t>
            </a:r>
          </a:p>
        </p:txBody>
      </p:sp>
      <p:sp>
        <p:nvSpPr>
          <p:cNvPr id="109" name="Espaço Reservado para Texto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Espaço Reservado para Texto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rtlCol="0" anchor="ctr">
            <a:normAutofit/>
          </a:bodyPr>
          <a:lstStyle>
            <a:lvl1pPr marL="0" indent="0" rtl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rtl="0"/>
            <a:r>
              <a:rPr lang="pt-BR" altLang="zh-HK" noProof="1"/>
              <a:t>[www.website.com]</a:t>
            </a:r>
          </a:p>
        </p:txBody>
      </p:sp>
      <p:sp>
        <p:nvSpPr>
          <p:cNvPr id="142" name="Espaço Reservado para Texto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rtlCol="0" anchor="ctr">
            <a:normAutofit/>
          </a:bodyPr>
          <a:lstStyle>
            <a:lvl1pPr marL="0" indent="0" rtl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rtl="0"/>
            <a:r>
              <a:rPr lang="pt-BR" altLang="zh-HK" noProof="1"/>
              <a:t>[Email@email.com]</a:t>
            </a:r>
          </a:p>
        </p:txBody>
      </p:sp>
      <p:sp>
        <p:nvSpPr>
          <p:cNvPr id="143" name="Espaço Reservado para Texto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rtlCol="0" anchor="ctr">
            <a:normAutofit/>
          </a:bodyPr>
          <a:lstStyle>
            <a:lvl1pPr marL="0" indent="0" rtl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rtl="0"/>
            <a:r>
              <a:rPr lang="pt-BR" altLang="zh-HK" noProof="1"/>
              <a:t>[Número do Telefone]</a:t>
            </a:r>
          </a:p>
        </p:txBody>
      </p:sp>
      <p:sp>
        <p:nvSpPr>
          <p:cNvPr id="66" name="Espaço Reservado para Imagem 65">
            <a:extLst>
              <a:ext uri="{FF2B5EF4-FFF2-40B4-BE49-F238E27FC236}">
                <a16:creationId xmlns:a16="http://schemas.microsoft.com/office/drawing/2014/main" id="{D99AF921-7F38-AA4D-A86E-AAA8D030F26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596449" y="165485"/>
            <a:ext cx="1120065" cy="1120065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06" name="Espaço Reservado para Texto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rtlCol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POWERPOINT</a:t>
            </a:r>
          </a:p>
        </p:txBody>
      </p:sp>
      <p:sp>
        <p:nvSpPr>
          <p:cNvPr id="310" name="Espaço Reservado para Texto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marL="0" indent="0" rtl="0">
              <a:buNone/>
            </a:pPr>
            <a:r>
              <a:rPr lang="pt-BR" altLang="zh-HK" sz="1000" noProof="1"/>
              <a:t>MÍDIA SOCIAL</a:t>
            </a:r>
            <a:endParaRPr lang="pt-BR" altLang="zh-HK" sz="1000" noProof="1">
              <a:solidFill>
                <a:schemeClr val="bg1"/>
              </a:solidFill>
            </a:endParaRPr>
          </a:p>
        </p:txBody>
      </p:sp>
      <p:sp>
        <p:nvSpPr>
          <p:cNvPr id="312" name="Espaço Reservado para Texto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rtl="0"/>
            <a:r>
              <a:rPr lang="pt-BR" altLang="zh-HK" sz="1000" noProof="1"/>
              <a:t>GERENCIAMENTO DE EQUIPE</a:t>
            </a:r>
          </a:p>
        </p:txBody>
      </p:sp>
      <p:sp>
        <p:nvSpPr>
          <p:cNvPr id="317" name="Espaço Reservado para Texto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rtlCol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EXCEL</a:t>
            </a:r>
          </a:p>
        </p:txBody>
      </p:sp>
      <p:sp>
        <p:nvSpPr>
          <p:cNvPr id="318" name="Espaço Reservado para Texto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rtlCol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WORD</a:t>
            </a:r>
          </a:p>
        </p:txBody>
      </p:sp>
      <p:sp>
        <p:nvSpPr>
          <p:cNvPr id="336" name="Espaço Reservado para Texto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rtl="0"/>
            <a:r>
              <a:rPr lang="pt-BR" altLang="zh-HK" sz="1000" noProof="1"/>
              <a:t>INGLÊS</a:t>
            </a:r>
          </a:p>
        </p:txBody>
      </p:sp>
      <p:sp>
        <p:nvSpPr>
          <p:cNvPr id="337" name="Espaço Reservado para Texto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rtl="0"/>
            <a:r>
              <a:rPr lang="pt-BR" altLang="zh-HK" sz="1000" noProof="1"/>
              <a:t>FRANCÊS</a:t>
            </a:r>
          </a:p>
        </p:txBody>
      </p:sp>
      <p:sp>
        <p:nvSpPr>
          <p:cNvPr id="338" name="Espaço Reservado para Texto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rtl="0"/>
            <a:r>
              <a:rPr lang="pt-BR" altLang="zh-HK" sz="1000" noProof="1"/>
              <a:t>ESPANHOL</a:t>
            </a:r>
          </a:p>
        </p:txBody>
      </p:sp>
      <p:sp>
        <p:nvSpPr>
          <p:cNvPr id="339" name="Espaço Reservado para Texto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 dirty="0"/>
              <a:t>GERÊNCIA</a:t>
            </a:r>
            <a:endParaRPr lang="pt-br" noProof="0" dirty="0"/>
          </a:p>
        </p:txBody>
      </p:sp>
      <p:sp>
        <p:nvSpPr>
          <p:cNvPr id="340" name="Espaço Reservado para Texto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 dirty="0"/>
              <a:t>DESIGN</a:t>
            </a:r>
            <a:endParaRPr lang="pt-br" noProof="0" dirty="0"/>
          </a:p>
        </p:txBody>
      </p:sp>
      <p:sp>
        <p:nvSpPr>
          <p:cNvPr id="341" name="Espaço Reservado para Texto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 dirty="0"/>
              <a:t>DESENVOLVIMENTO</a:t>
            </a:r>
            <a:endParaRPr lang="pt-br" noProof="0" dirty="0"/>
          </a:p>
        </p:txBody>
      </p:sp>
      <p:sp>
        <p:nvSpPr>
          <p:cNvPr id="342" name="Espaço Reservado para Texto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rtl="0"/>
            <a:r>
              <a:rPr lang="pt-BR" altLang="zh-HK" noProof="1"/>
              <a:t>HABILIDADES</a:t>
            </a:r>
          </a:p>
        </p:txBody>
      </p:sp>
      <p:sp>
        <p:nvSpPr>
          <p:cNvPr id="343" name="Espaço Reservado para Texto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rtlCol="0" anchor="ctr">
            <a:noAutofit/>
          </a:bodyPr>
          <a:lstStyle>
            <a:lvl1pPr marL="0" indent="0" rtl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 dirty="0"/>
              <a:t>MARKETING</a:t>
            </a:r>
            <a:endParaRPr lang="pt-br" noProof="0" dirty="0"/>
          </a:p>
        </p:txBody>
      </p:sp>
      <p:sp>
        <p:nvSpPr>
          <p:cNvPr id="344" name="Espaço Reservado para Texto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10</a:t>
            </a:r>
          </a:p>
        </p:txBody>
      </p:sp>
      <p:sp>
        <p:nvSpPr>
          <p:cNvPr id="345" name="Espaço Reservado para Texto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7</a:t>
            </a:r>
          </a:p>
        </p:txBody>
      </p:sp>
      <p:sp>
        <p:nvSpPr>
          <p:cNvPr id="346" name="Espaço Reservado para Texto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3.5</a:t>
            </a:r>
          </a:p>
        </p:txBody>
      </p:sp>
      <p:sp>
        <p:nvSpPr>
          <p:cNvPr id="347" name="Espaço Reservado para Texto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8</a:t>
            </a:r>
          </a:p>
        </p:txBody>
      </p:sp>
      <p:sp>
        <p:nvSpPr>
          <p:cNvPr id="348" name="Espaço Reservado para Texto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rtlCol="0" anchor="ctr">
            <a:noAutofit/>
          </a:bodyPr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rtl="0"/>
            <a:r>
              <a:rPr lang="pt-BR" altLang="zh-HK" noProof="1"/>
              <a:t>ANOS DE EXPERIÊNCIA</a:t>
            </a:r>
          </a:p>
        </p:txBody>
      </p:sp>
      <p:cxnSp>
        <p:nvCxnSpPr>
          <p:cNvPr id="355" name="Conector Reto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spaço Reservado para Texto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rtlCol="0" anchor="ctr">
            <a:noAutofit/>
          </a:bodyPr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rtl="0"/>
            <a:r>
              <a:rPr lang="pt-BR" altLang="zh-HK" noProof="1"/>
              <a:t>EXPERIENCIA INTERNACIONAL</a:t>
            </a:r>
          </a:p>
        </p:txBody>
      </p:sp>
      <p:sp>
        <p:nvSpPr>
          <p:cNvPr id="359" name="Espaço Reservado para Texto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rtlCol="0" anchor="ctr">
            <a:noAutofit/>
          </a:bodyPr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rtl="0"/>
            <a:r>
              <a:rPr lang="pt-BR" altLang="zh-HK" noProof="1"/>
              <a:t>HABILIDADES</a:t>
            </a:r>
          </a:p>
        </p:txBody>
      </p:sp>
      <p:sp>
        <p:nvSpPr>
          <p:cNvPr id="360" name="Espaço Reservado para Texto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rtlCol="0" anchor="ctr">
            <a:noAutofit/>
          </a:bodyPr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rtl="0"/>
            <a:r>
              <a:rPr lang="pt-BR" altLang="zh-HK" noProof="1"/>
              <a:t>IDIOMAS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351E656-6510-424B-BD38-47704B2101CD}" type="datetime1">
              <a:rPr lang="pt-BR" noProof="0" smtClean="0"/>
              <a:t>03/10/2021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6FD580D-DD1F-2749-85C8-F9883E4B5E50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Conector Reto 112">
            <a:extLst>
              <a:ext uri="{FF2B5EF4-FFF2-40B4-BE49-F238E27FC236}">
                <a16:creationId xmlns:a16="http://schemas.microsoft.com/office/drawing/2014/main" id="{5904A63C-68EB-4D94-AC13-8E81F7F82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450747" y="7545106"/>
            <a:ext cx="340725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ABD56A74-3819-47CE-8737-C6E23389A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756252" y="2619954"/>
            <a:ext cx="2804510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Conector Reto 324">
            <a:extLst>
              <a:ext uri="{FF2B5EF4-FFF2-40B4-BE49-F238E27FC236}">
                <a16:creationId xmlns:a16="http://schemas.microsoft.com/office/drawing/2014/main" id="{20C8264B-90F6-488D-9A35-30668A01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50747" y="3561837"/>
            <a:ext cx="34072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Conector Reto 325">
            <a:extLst>
              <a:ext uri="{FF2B5EF4-FFF2-40B4-BE49-F238E27FC236}">
                <a16:creationId xmlns:a16="http://schemas.microsoft.com/office/drawing/2014/main" id="{6068E215-0C3A-40AB-99A4-4979F9F8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452601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onector Reto 329">
            <a:extLst>
              <a:ext uri="{FF2B5EF4-FFF2-40B4-BE49-F238E27FC236}">
                <a16:creationId xmlns:a16="http://schemas.microsoft.com/office/drawing/2014/main" id="{CFFDC489-63F2-422D-BBE3-DA76E38B0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50747" y="5638764"/>
            <a:ext cx="34072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ítulo 42">
            <a:extLst>
              <a:ext uri="{FF2B5EF4-FFF2-40B4-BE49-F238E27FC236}">
                <a16:creationId xmlns:a16="http://schemas.microsoft.com/office/drawing/2014/main" id="{C67EB74C-8F2F-A044-84A9-F24E7442B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684" y="161935"/>
            <a:ext cx="5131177" cy="660189"/>
          </a:xfrm>
        </p:spPr>
        <p:txBody>
          <a:bodyPr rtlCol="0"/>
          <a:lstStyle/>
          <a:p>
            <a:pPr algn="ctr" rtl="0"/>
            <a:r>
              <a:rPr lang="pt-BR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</a:rPr>
              <a:t>Análise da criminalidade do estado de São Paulo relacionada a População, Educação e Renda</a:t>
            </a:r>
            <a:endParaRPr lang="pt-BR" sz="2000" b="0" noProof="1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B8D5B63C-6F29-9E4D-AADE-62F8305839D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9684" y="1564581"/>
            <a:ext cx="2925613" cy="248809"/>
          </a:xfrm>
        </p:spPr>
        <p:txBody>
          <a:bodyPr rtlCol="0">
            <a:normAutofit/>
          </a:bodyPr>
          <a:lstStyle/>
          <a:p>
            <a:pPr rtl="0"/>
            <a:r>
              <a:rPr lang="pt-BR" noProof="1"/>
              <a:t>Introdução </a:t>
            </a:r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F6BE6362-93BD-2743-887A-A038C0710C4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54557" y="1801313"/>
            <a:ext cx="2925612" cy="890120"/>
          </a:xfrm>
        </p:spPr>
        <p:txBody>
          <a:bodyPr rtlCol="0"/>
          <a:lstStyle/>
          <a:p>
            <a:pPr indent="180000" algn="just"/>
            <a:r>
              <a:rPr lang="pt-B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este Programa de Mentoria nossa equipe trabalhou em um projeto que teve como objetivo geral analisar de conjuntos de dados públicos sobre população, educação, renda e criminalidade no Estado de São Paulo a fim de encontrar possíveis correlações que possam corroborar com a tomada de decisão e planejamento estratégico por parte da Segurança Pública do Estado de São Paulo, visto a necessidade de maior agilidade no enfrentamento da criminalidade.</a:t>
            </a:r>
          </a:p>
          <a:p>
            <a:endParaRPr lang="pt-BR" sz="1050" noProof="1"/>
          </a:p>
        </p:txBody>
      </p:sp>
      <p:sp>
        <p:nvSpPr>
          <p:cNvPr id="38" name="Espaço Reservado para Texto 37">
            <a:extLst>
              <a:ext uri="{FF2B5EF4-FFF2-40B4-BE49-F238E27FC236}">
                <a16:creationId xmlns:a16="http://schemas.microsoft.com/office/drawing/2014/main" id="{8107B0D9-8EB1-4649-9A1C-970A6BC141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/>
          <a:p>
            <a:pPr rtl="0"/>
            <a:r>
              <a:rPr lang="pt-BR" noProof="1"/>
              <a:t>PROJETO</a:t>
            </a:r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84C7E5E4-AAAD-A841-8A0C-BECC827BB43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271" y="4937786"/>
            <a:ext cx="2925613" cy="259767"/>
          </a:xfrm>
        </p:spPr>
        <p:txBody>
          <a:bodyPr rtlCol="0">
            <a:normAutofit/>
          </a:bodyPr>
          <a:lstStyle/>
          <a:p>
            <a:pPr rtl="0"/>
            <a:r>
              <a:rPr lang="pt-BR" noProof="1"/>
              <a:t>Macro cronograma</a:t>
            </a:r>
          </a:p>
        </p:txBody>
      </p:sp>
      <p:sp>
        <p:nvSpPr>
          <p:cNvPr id="28" name="Espaço Reservado para Texto 27">
            <a:extLst>
              <a:ext uri="{FF2B5EF4-FFF2-40B4-BE49-F238E27FC236}">
                <a16:creationId xmlns:a16="http://schemas.microsoft.com/office/drawing/2014/main" id="{2BD3721E-42CE-CF4A-8454-8814B6A75FE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54284" y="2766987"/>
            <a:ext cx="2925613" cy="248809"/>
          </a:xfrm>
        </p:spPr>
        <p:txBody>
          <a:bodyPr rtlCol="0">
            <a:normAutofit/>
          </a:bodyPr>
          <a:lstStyle/>
          <a:p>
            <a:pPr rtl="0"/>
            <a:r>
              <a:rPr lang="pt-BR" noProof="1"/>
              <a:t>Objetivo</a:t>
            </a:r>
          </a:p>
        </p:txBody>
      </p:sp>
      <p:sp>
        <p:nvSpPr>
          <p:cNvPr id="30" name="Espaço Reservado para Texto 29">
            <a:extLst>
              <a:ext uri="{FF2B5EF4-FFF2-40B4-BE49-F238E27FC236}">
                <a16:creationId xmlns:a16="http://schemas.microsoft.com/office/drawing/2014/main" id="{F5C1FAED-BD61-1049-834C-52C8CC761F7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66985" y="2976900"/>
            <a:ext cx="2925612" cy="1906330"/>
          </a:xfrm>
        </p:spPr>
        <p:txBody>
          <a:bodyPr rtlCol="0"/>
          <a:lstStyle/>
          <a:p>
            <a:pPr indent="180000" algn="just"/>
            <a:r>
              <a:rPr lang="pt-B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trabalho tem como objetivo geral a análise de conjuntos de dados públicos sobre população, educação, renda e criminalidade no Estado de São Paulo a fim de encontrar possíveis correlações que possam corroborar com a tomada de decisão e planejamento estratégico por parte da Segurança Pública do Estado de São Paulo e tem como objetivos específicos: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Trabalhar com o ciclo de vida de ciência de dados;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Extrair os quatro </a:t>
            </a:r>
            <a:r>
              <a:rPr lang="pt-BR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pt-B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propostos;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Demonstrar os dados dos </a:t>
            </a:r>
            <a:r>
              <a:rPr lang="pt-BR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pt-B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extraídos;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Apresentar um dashboard das informações;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Apresentar um arquivo consolidado das informações;</a:t>
            </a:r>
          </a:p>
        </p:txBody>
      </p:sp>
      <p:pic>
        <p:nvPicPr>
          <p:cNvPr id="20" name="Espaço Reservado para Imagem 19">
            <a:extLst>
              <a:ext uri="{FF2B5EF4-FFF2-40B4-BE49-F238E27FC236}">
                <a16:creationId xmlns:a16="http://schemas.microsoft.com/office/drawing/2014/main" id="{F129CE4B-2BBE-2446-AA79-54EAF6A81BA5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/>
          <a:stretch/>
        </p:blipFill>
        <p:spPr>
          <a:xfrm>
            <a:off x="5596449" y="165485"/>
            <a:ext cx="1120065" cy="112006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6" name="Espaço Reservado para Texto 115">
            <a:extLst>
              <a:ext uri="{FF2B5EF4-FFF2-40B4-BE49-F238E27FC236}">
                <a16:creationId xmlns:a16="http://schemas.microsoft.com/office/drawing/2014/main" id="{4233DFE1-397B-9D40-8F2D-A74BAA71693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703027" y="8147512"/>
            <a:ext cx="1617652" cy="262769"/>
          </a:xfrm>
        </p:spPr>
        <p:txBody>
          <a:bodyPr rtlCol="0"/>
          <a:lstStyle/>
          <a:p>
            <a:r>
              <a:rPr lang="pt-BR" noProof="1"/>
              <a:t>Power BI</a:t>
            </a:r>
          </a:p>
        </p:txBody>
      </p:sp>
      <p:sp>
        <p:nvSpPr>
          <p:cNvPr id="117" name="Espaço Reservado para Texto 116">
            <a:extLst>
              <a:ext uri="{FF2B5EF4-FFF2-40B4-BE49-F238E27FC236}">
                <a16:creationId xmlns:a16="http://schemas.microsoft.com/office/drawing/2014/main" id="{D955D1EE-EFC7-0843-93AB-52CF2FE43CF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703027" y="8415528"/>
            <a:ext cx="1449583" cy="262769"/>
          </a:xfrm>
        </p:spPr>
        <p:txBody>
          <a:bodyPr rtlCol="0"/>
          <a:lstStyle/>
          <a:p>
            <a:r>
              <a:rPr lang="pt-BR" noProof="1"/>
              <a:t>RStudio</a:t>
            </a:r>
          </a:p>
        </p:txBody>
      </p:sp>
      <p:sp>
        <p:nvSpPr>
          <p:cNvPr id="118" name="Espaço Reservado para Texto 117">
            <a:extLst>
              <a:ext uri="{FF2B5EF4-FFF2-40B4-BE49-F238E27FC236}">
                <a16:creationId xmlns:a16="http://schemas.microsoft.com/office/drawing/2014/main" id="{542487C0-67AC-0849-8B9F-130D56060EB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703026" y="8697907"/>
            <a:ext cx="1656000" cy="238881"/>
          </a:xfrm>
        </p:spPr>
        <p:txBody>
          <a:bodyPr rtlCol="0"/>
          <a:lstStyle/>
          <a:p>
            <a:r>
              <a:rPr lang="pt-BR" noProof="1"/>
              <a:t>Python</a:t>
            </a:r>
          </a:p>
        </p:txBody>
      </p:sp>
      <p:sp>
        <p:nvSpPr>
          <p:cNvPr id="119" name="Espaço Reservado para Texto 118">
            <a:extLst>
              <a:ext uri="{FF2B5EF4-FFF2-40B4-BE49-F238E27FC236}">
                <a16:creationId xmlns:a16="http://schemas.microsoft.com/office/drawing/2014/main" id="{EA98D879-DA49-2444-B6BC-531098AA8B6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480776" y="7593880"/>
            <a:ext cx="3235737" cy="289046"/>
          </a:xfrm>
        </p:spPr>
        <p:txBody>
          <a:bodyPr rtlCol="0"/>
          <a:lstStyle/>
          <a:p>
            <a:pPr rtl="0"/>
            <a:r>
              <a:rPr lang="pt-BR" noProof="1"/>
              <a:t>FERRAMENTAS E PROGRAMAS</a:t>
            </a:r>
          </a:p>
        </p:txBody>
      </p:sp>
      <p:sp>
        <p:nvSpPr>
          <p:cNvPr id="120" name="Espaço Reservado para Texto 119">
            <a:extLst>
              <a:ext uri="{FF2B5EF4-FFF2-40B4-BE49-F238E27FC236}">
                <a16:creationId xmlns:a16="http://schemas.microsoft.com/office/drawing/2014/main" id="{05BC12C5-98CA-634E-B120-78D814AFCAD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703027" y="7878034"/>
            <a:ext cx="1617652" cy="262769"/>
          </a:xfrm>
        </p:spPr>
        <p:txBody>
          <a:bodyPr rtlCol="0"/>
          <a:lstStyle/>
          <a:p>
            <a:pPr rtl="0"/>
            <a:r>
              <a:rPr lang="pt-BR" noProof="1"/>
              <a:t>Jupyter Notebook</a:t>
            </a:r>
          </a:p>
        </p:txBody>
      </p:sp>
      <p:sp>
        <p:nvSpPr>
          <p:cNvPr id="149" name="Espaço Reservado para Texto 148">
            <a:extLst>
              <a:ext uri="{FF2B5EF4-FFF2-40B4-BE49-F238E27FC236}">
                <a16:creationId xmlns:a16="http://schemas.microsoft.com/office/drawing/2014/main" id="{A7504683-E4D4-0D48-919D-A3FCB64E43CA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 rIns="0" rtlCol="0">
            <a:normAutofit/>
          </a:bodyPr>
          <a:lstStyle/>
          <a:p>
            <a:pPr rtl="0"/>
            <a:r>
              <a:rPr lang="pt-BR" noProof="1"/>
              <a:t>RESULTADOS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8A7DE4BB-244F-6B49-9727-5BAD74EA4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8111" y="7942124"/>
            <a:ext cx="160984" cy="1609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86F5B1B6-C812-7540-BCB9-271539B93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8111" y="8210638"/>
            <a:ext cx="160984" cy="1609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5460C3D1-676E-3E4D-95DB-F5F6D3D88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8111" y="8471895"/>
            <a:ext cx="160984" cy="1609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2ED2FB73-5322-564C-B2F5-9335A0646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8111" y="8747666"/>
            <a:ext cx="160984" cy="1609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cxnSp>
        <p:nvCxnSpPr>
          <p:cNvPr id="152" name="Conector de Seta Reta 151">
            <a:extLst>
              <a:ext uri="{FF2B5EF4-FFF2-40B4-BE49-F238E27FC236}">
                <a16:creationId xmlns:a16="http://schemas.microsoft.com/office/drawing/2014/main" id="{4FE93959-4A6A-4B48-B3E2-6468FDE1E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4630" y="1681193"/>
            <a:ext cx="291220" cy="1"/>
          </a:xfrm>
          <a:prstGeom prst="straightConnector1">
            <a:avLst/>
          </a:prstGeom>
          <a:ln w="12700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de Seta Reta 152">
            <a:extLst>
              <a:ext uri="{FF2B5EF4-FFF2-40B4-BE49-F238E27FC236}">
                <a16:creationId xmlns:a16="http://schemas.microsoft.com/office/drawing/2014/main" id="{92D27F86-00CB-3644-8651-C1182ECB7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4630" y="2890787"/>
            <a:ext cx="291220" cy="1"/>
          </a:xfrm>
          <a:prstGeom prst="straightConnector1">
            <a:avLst/>
          </a:prstGeom>
          <a:ln w="12700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>
            <a:extLst>
              <a:ext uri="{FF2B5EF4-FFF2-40B4-BE49-F238E27FC236}">
                <a16:creationId xmlns:a16="http://schemas.microsoft.com/office/drawing/2014/main" id="{8456E314-2B8A-0B45-B8BB-C04ABEADA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4630" y="5062201"/>
            <a:ext cx="291220" cy="1"/>
          </a:xfrm>
          <a:prstGeom prst="straightConnector1">
            <a:avLst/>
          </a:prstGeom>
          <a:ln w="12700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5" name="Imagem 354">
            <a:extLst>
              <a:ext uri="{FF2B5EF4-FFF2-40B4-BE49-F238E27FC236}">
                <a16:creationId xmlns:a16="http://schemas.microsoft.com/office/drawing/2014/main" id="{984D976A-26E0-4272-A6D0-3B8B32BAB4A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109" t="17955" r="9348" b="10126"/>
          <a:stretch/>
        </p:blipFill>
        <p:spPr>
          <a:xfrm>
            <a:off x="3514756" y="1588203"/>
            <a:ext cx="3207517" cy="1838515"/>
          </a:xfrm>
          <a:prstGeom prst="rect">
            <a:avLst/>
          </a:prstGeom>
        </p:spPr>
      </p:pic>
      <p:pic>
        <p:nvPicPr>
          <p:cNvPr id="359" name="Imagem 358">
            <a:extLst>
              <a:ext uri="{FF2B5EF4-FFF2-40B4-BE49-F238E27FC236}">
                <a16:creationId xmlns:a16="http://schemas.microsoft.com/office/drawing/2014/main" id="{EFD0874D-7CBB-4254-90C5-5CB8694F5D7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891" t="18342" r="9239" b="10512"/>
          <a:stretch/>
        </p:blipFill>
        <p:spPr>
          <a:xfrm>
            <a:off x="3514756" y="3705437"/>
            <a:ext cx="3247967" cy="1833201"/>
          </a:xfrm>
          <a:prstGeom prst="rect">
            <a:avLst/>
          </a:prstGeom>
        </p:spPr>
      </p:pic>
      <p:pic>
        <p:nvPicPr>
          <p:cNvPr id="361" name="Imagem 360">
            <a:extLst>
              <a:ext uri="{FF2B5EF4-FFF2-40B4-BE49-F238E27FC236}">
                <a16:creationId xmlns:a16="http://schemas.microsoft.com/office/drawing/2014/main" id="{25D95BDC-721E-46F7-AFAD-076D00F160C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5689"/>
          <a:stretch/>
        </p:blipFill>
        <p:spPr>
          <a:xfrm>
            <a:off x="3523932" y="5720594"/>
            <a:ext cx="3260881" cy="1729041"/>
          </a:xfrm>
          <a:prstGeom prst="rect">
            <a:avLst/>
          </a:prstGeom>
        </p:spPr>
      </p:pic>
      <p:pic>
        <p:nvPicPr>
          <p:cNvPr id="72" name="Imagem 71">
            <a:extLst>
              <a:ext uri="{FF2B5EF4-FFF2-40B4-BE49-F238E27FC236}">
                <a16:creationId xmlns:a16="http://schemas.microsoft.com/office/drawing/2014/main" id="{08931356-571A-4B25-952F-93480F2C030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8426" t="32291" r="17222" b="13913"/>
          <a:stretch/>
        </p:blipFill>
        <p:spPr>
          <a:xfrm>
            <a:off x="384447" y="5200961"/>
            <a:ext cx="2863850" cy="1593676"/>
          </a:xfrm>
          <a:prstGeom prst="rect">
            <a:avLst/>
          </a:prstGeom>
        </p:spPr>
      </p:pic>
      <p:sp>
        <p:nvSpPr>
          <p:cNvPr id="364" name="Espaço Reservado para Texto 27">
            <a:extLst>
              <a:ext uri="{FF2B5EF4-FFF2-40B4-BE49-F238E27FC236}">
                <a16:creationId xmlns:a16="http://schemas.microsoft.com/office/drawing/2014/main" id="{D41B1EC8-4A71-435D-9127-CFCE26394A47}"/>
              </a:ext>
            </a:extLst>
          </p:cNvPr>
          <p:cNvSpPr txBox="1">
            <a:spLocks/>
          </p:cNvSpPr>
          <p:nvPr/>
        </p:nvSpPr>
        <p:spPr>
          <a:xfrm>
            <a:off x="386034" y="6871550"/>
            <a:ext cx="2925613" cy="24880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1"/>
              <a:t>Lições aprendidas</a:t>
            </a:r>
          </a:p>
        </p:txBody>
      </p:sp>
      <p:cxnSp>
        <p:nvCxnSpPr>
          <p:cNvPr id="365" name="Conector de Seta Reta 364">
            <a:extLst>
              <a:ext uri="{FF2B5EF4-FFF2-40B4-BE49-F238E27FC236}">
                <a16:creationId xmlns:a16="http://schemas.microsoft.com/office/drawing/2014/main" id="{AE64B648-AF44-4AE6-B781-3715660C2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20" y="6984654"/>
            <a:ext cx="291220" cy="1"/>
          </a:xfrm>
          <a:prstGeom prst="straightConnector1">
            <a:avLst/>
          </a:prstGeom>
          <a:ln w="12700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Espaço Reservado para Texto 22">
            <a:extLst>
              <a:ext uri="{FF2B5EF4-FFF2-40B4-BE49-F238E27FC236}">
                <a16:creationId xmlns:a16="http://schemas.microsoft.com/office/drawing/2014/main" id="{96F03549-B22F-4D31-A28F-9CB10C66357B}"/>
              </a:ext>
            </a:extLst>
          </p:cNvPr>
          <p:cNvSpPr txBox="1">
            <a:spLocks/>
          </p:cNvSpPr>
          <p:nvPr/>
        </p:nvSpPr>
        <p:spPr>
          <a:xfrm>
            <a:off x="277686" y="7074452"/>
            <a:ext cx="2925612" cy="1830115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80000" algn="just"/>
            <a:r>
              <a:rPr lang="pt-B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 dos maiores problemas que encontramos no desenvolvimento deste projeto foi em conseguir reunir toda a equipe em todas as reuniões. Procurou-se agendar um dia e horário fixo na semana que todos tivessem disponibilidade, mas mesmo assim tivemos vários contratempos e por consequência o processo inicial de desenvolvimento se tornou moroso.</a:t>
            </a:r>
          </a:p>
          <a:p>
            <a:pPr indent="180000" algn="just"/>
            <a:r>
              <a:rPr lang="pt-B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Destacamos também o pouco conhecimento técnico da equipe em relação as ferramentas que foram utilizadas. O integrante da equipe que tinha maior conhecimento em programação ficou sem disponibilidade para participar das reuniões e formalizou a desistência quase no final do projeto. O integrante com conhecimento em Power BI também teve alguns contratempos que impossibilitaram de participar das reuniões iniciais com maior efetividade e conseguiu contribuir com o projeto já na fase final.</a:t>
            </a:r>
          </a:p>
          <a:p>
            <a:endParaRPr lang="pt-BR" sz="1050" noProof="1"/>
          </a:p>
        </p:txBody>
      </p:sp>
      <p:sp>
        <p:nvSpPr>
          <p:cNvPr id="35" name="Título 42">
            <a:extLst>
              <a:ext uri="{FF2B5EF4-FFF2-40B4-BE49-F238E27FC236}">
                <a16:creationId xmlns:a16="http://schemas.microsoft.com/office/drawing/2014/main" id="{27F5BE2B-9C38-4526-91E8-3BECBAA11954}"/>
              </a:ext>
            </a:extLst>
          </p:cNvPr>
          <p:cNvSpPr txBox="1">
            <a:spLocks/>
          </p:cNvSpPr>
          <p:nvPr/>
        </p:nvSpPr>
        <p:spPr>
          <a:xfrm>
            <a:off x="374915" y="814313"/>
            <a:ext cx="5131177" cy="22688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accent4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Rogélio Gonçalves Neto - Mentor</a:t>
            </a:r>
          </a:p>
          <a:p>
            <a:r>
              <a:rPr lang="pt-BR" sz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Luciana Silva Albuquerque de Melo – </a:t>
            </a:r>
            <a:r>
              <a:rPr lang="pt-BR" sz="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Mentorado</a:t>
            </a:r>
            <a:endParaRPr lang="pt-BR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Letícia Fiorina Echeverria Grobério - </a:t>
            </a:r>
            <a:r>
              <a:rPr lang="pt-BR" sz="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Mentorado</a:t>
            </a:r>
            <a:endParaRPr lang="pt-BR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Espaço Reservado para Texto 115">
            <a:extLst>
              <a:ext uri="{FF2B5EF4-FFF2-40B4-BE49-F238E27FC236}">
                <a16:creationId xmlns:a16="http://schemas.microsoft.com/office/drawing/2014/main" id="{C4C5A500-9546-418A-8545-AEF65962ECE8}"/>
              </a:ext>
            </a:extLst>
          </p:cNvPr>
          <p:cNvSpPr txBox="1">
            <a:spLocks/>
          </p:cNvSpPr>
          <p:nvPr/>
        </p:nvSpPr>
        <p:spPr>
          <a:xfrm>
            <a:off x="5117509" y="8147510"/>
            <a:ext cx="1617652" cy="262769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1"/>
              <a:t>Excel</a:t>
            </a:r>
          </a:p>
        </p:txBody>
      </p:sp>
      <p:sp>
        <p:nvSpPr>
          <p:cNvPr id="37" name="Espaço Reservado para Texto 116">
            <a:extLst>
              <a:ext uri="{FF2B5EF4-FFF2-40B4-BE49-F238E27FC236}">
                <a16:creationId xmlns:a16="http://schemas.microsoft.com/office/drawing/2014/main" id="{9ACDC5E9-3677-4A1B-9C96-C0D5964DC139}"/>
              </a:ext>
            </a:extLst>
          </p:cNvPr>
          <p:cNvSpPr txBox="1">
            <a:spLocks/>
          </p:cNvSpPr>
          <p:nvPr/>
        </p:nvSpPr>
        <p:spPr>
          <a:xfrm>
            <a:off x="5117509" y="8415526"/>
            <a:ext cx="1449583" cy="262769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1"/>
              <a:t>Word</a:t>
            </a:r>
          </a:p>
        </p:txBody>
      </p:sp>
      <p:sp>
        <p:nvSpPr>
          <p:cNvPr id="39" name="Espaço Reservado para Texto 117">
            <a:extLst>
              <a:ext uri="{FF2B5EF4-FFF2-40B4-BE49-F238E27FC236}">
                <a16:creationId xmlns:a16="http://schemas.microsoft.com/office/drawing/2014/main" id="{FF4A1E1A-F1CF-472E-BD3D-396773710490}"/>
              </a:ext>
            </a:extLst>
          </p:cNvPr>
          <p:cNvSpPr txBox="1">
            <a:spLocks/>
          </p:cNvSpPr>
          <p:nvPr/>
        </p:nvSpPr>
        <p:spPr>
          <a:xfrm>
            <a:off x="5117508" y="8697905"/>
            <a:ext cx="1656000" cy="23888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1"/>
              <a:t>Power point</a:t>
            </a:r>
          </a:p>
        </p:txBody>
      </p:sp>
      <p:sp>
        <p:nvSpPr>
          <p:cNvPr id="40" name="Espaço Reservado para Texto 119">
            <a:extLst>
              <a:ext uri="{FF2B5EF4-FFF2-40B4-BE49-F238E27FC236}">
                <a16:creationId xmlns:a16="http://schemas.microsoft.com/office/drawing/2014/main" id="{CF92504F-0B79-44AB-B537-647FE6AE2A5F}"/>
              </a:ext>
            </a:extLst>
          </p:cNvPr>
          <p:cNvSpPr txBox="1">
            <a:spLocks/>
          </p:cNvSpPr>
          <p:nvPr/>
        </p:nvSpPr>
        <p:spPr>
          <a:xfrm>
            <a:off x="5117509" y="7878032"/>
            <a:ext cx="1617652" cy="262769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1"/>
              <a:t>R Markdown</a:t>
            </a:r>
          </a:p>
        </p:txBody>
      </p:sp>
      <p:sp>
        <p:nvSpPr>
          <p:cNvPr id="41" name="Oval 124">
            <a:extLst>
              <a:ext uri="{FF2B5EF4-FFF2-40B4-BE49-F238E27FC236}">
                <a16:creationId xmlns:a16="http://schemas.microsoft.com/office/drawing/2014/main" id="{52C9F365-F281-4F6C-AE8F-96CE6C627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2593" y="7942122"/>
            <a:ext cx="160984" cy="16098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>
              <a:highlight>
                <a:srgbClr val="008080"/>
              </a:highlight>
            </a:endParaRPr>
          </a:p>
        </p:txBody>
      </p:sp>
      <p:sp>
        <p:nvSpPr>
          <p:cNvPr id="42" name="Oval 125">
            <a:extLst>
              <a:ext uri="{FF2B5EF4-FFF2-40B4-BE49-F238E27FC236}">
                <a16:creationId xmlns:a16="http://schemas.microsoft.com/office/drawing/2014/main" id="{50C38D34-7EDB-4188-A9CD-371A9FBD1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2593" y="8210636"/>
            <a:ext cx="160984" cy="16098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sp>
        <p:nvSpPr>
          <p:cNvPr id="44" name="Oval 126">
            <a:extLst>
              <a:ext uri="{FF2B5EF4-FFF2-40B4-BE49-F238E27FC236}">
                <a16:creationId xmlns:a16="http://schemas.microsoft.com/office/drawing/2014/main" id="{EEB35B5D-0013-4D5B-8D63-8DB7AE7F5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2593" y="8471893"/>
            <a:ext cx="160984" cy="1609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sp>
        <p:nvSpPr>
          <p:cNvPr id="45" name="Oval 127">
            <a:extLst>
              <a:ext uri="{FF2B5EF4-FFF2-40B4-BE49-F238E27FC236}">
                <a16:creationId xmlns:a16="http://schemas.microsoft.com/office/drawing/2014/main" id="{CAA89CC8-B7C4-4EEE-AC46-909E24BF3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2593" y="8747664"/>
            <a:ext cx="160984" cy="160984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21448178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INFO Resume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92D050"/>
      </a:accent1>
      <a:accent2>
        <a:srgbClr val="0070C0"/>
      </a:accent2>
      <a:accent3>
        <a:srgbClr val="00B0F0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4865945_TF67752057" id="{E4E6B595-CF1B-41E4-B8EA-ACF8E368AB73}" vid="{9B907C68-0227-4258-B483-A621E23FEE1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ef88797d-310b-4d46-ad9c-0c23fa0c8d4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02E0EF7D44C04B9FA644DBFF45FF6A" ma:contentTypeVersion="13" ma:contentTypeDescription="Create a new document." ma:contentTypeScope="" ma:versionID="206b9469efed5238e3299da57cdc015e">
  <xsd:schema xmlns:xsd="http://www.w3.org/2001/XMLSchema" xmlns:xs="http://www.w3.org/2001/XMLSchema" xmlns:p="http://schemas.microsoft.com/office/2006/metadata/properties" xmlns:ns2="876de33e-aaa5-4507-9b92-b84e676ded0d" xmlns:ns3="ef88797d-310b-4d46-ad9c-0c23fa0c8d45" targetNamespace="http://schemas.microsoft.com/office/2006/metadata/properties" ma:root="true" ma:fieldsID="281ed500249cd3fe925a7af84a8b56c4" ns2:_="" ns3:_="">
    <xsd:import namespace="876de33e-aaa5-4507-9b92-b84e676ded0d"/>
    <xsd:import namespace="ef88797d-310b-4d46-ad9c-0c23fa0c8d4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de33e-aaa5-4507-9b92-b84e676ded0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hidden="true" ma:internalName="LastSharedByUser" ma:readOnly="true">
      <xsd:simpleType>
        <xsd:restriction base="dms:Note"/>
      </xsd:simpleType>
    </xsd:element>
    <xsd:element name="LastSharedByTime" ma:index="11" nillable="true" ma:displayName="Last Shared By Time" ma:description="" ma:hidden="true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88797d-310b-4d46-ad9c-0c23fa0c8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C8330E-9243-41D2-B668-95E77A525F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FC06E3-0E84-4E3F-B416-FB828DCF9B7F}">
  <ds:schemaRefs>
    <ds:schemaRef ds:uri="http://schemas.microsoft.com/office/2006/metadata/properties"/>
    <ds:schemaRef ds:uri="http://schemas.microsoft.com/office/infopath/2007/PartnerControls"/>
    <ds:schemaRef ds:uri="ef88797d-310b-4d46-ad9c-0c23fa0c8d45"/>
  </ds:schemaRefs>
</ds:datastoreItem>
</file>

<file path=customXml/itemProps3.xml><?xml version="1.0" encoding="utf-8"?>
<ds:datastoreItem xmlns:ds="http://schemas.openxmlformats.org/officeDocument/2006/customXml" ds:itemID="{6C0558B0-8C20-4473-953C-1BB329A85E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de33e-aaa5-4507-9b92-b84e676ded0d"/>
    <ds:schemaRef ds:uri="ef88797d-310b-4d46-ad9c-0c23fa0c8d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Currículos infográficos internacionais</Template>
  <TotalTime>658</TotalTime>
  <Words>356</Words>
  <Application>Microsoft Office PowerPoint</Application>
  <PresentationFormat>Papel Carta (216 x 279 mm)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Rockwell</vt:lpstr>
      <vt:lpstr>Times New Roman</vt:lpstr>
      <vt:lpstr>Tw Cen MT</vt:lpstr>
      <vt:lpstr>Tema do Office</vt:lpstr>
      <vt:lpstr>Análise da criminalidade do estado de São Paulo relacionada a População, Educação e Renda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AQUI</dc:title>
  <dc:creator>Rogelio Neto</dc:creator>
  <cp:lastModifiedBy>Rogelio Neto</cp:lastModifiedBy>
  <cp:revision>14</cp:revision>
  <dcterms:created xsi:type="dcterms:W3CDTF">2021-09-29T01:19:16Z</dcterms:created>
  <dcterms:modified xsi:type="dcterms:W3CDTF">2021-10-04T02:57:50Z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0x0101005F02E0EF7D44C04B9FA644DBFF45FF6A</vt:lpwstr>
  </property>
</Properties>
</file>